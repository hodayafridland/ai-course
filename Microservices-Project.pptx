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Accent"/>
          <p:cNvSpPr/>
          <p:nvPr/>
        </p:nvSpPr>
        <p:spPr>
          <a:xfrm>
            <a:off x="4796000" y="3230000"/>
            <a:ext cx="2600000" cy="46000"/>
          </a:xfrm>
          <a:prstGeom prst="rect">
            <a:avLst/>
          </a:prstGeom>
          <a:solidFill>
            <a:srgbClr val="E8B04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2100000"/>
            <a:ext cx="10672000" cy="1100000"/>
          </a:xfrm>
          <a:prstGeom prst="rect">
            <a:avLst/>
          </a:prstGeom>
        </p:spPr>
        <p:txBody>
          <a:bodyPr rtlCol="1" anchor="ctr"/>
          <a:lstStyle/>
          <a:p>
            <a:pPr algn="ctr" rtl="1"/>
            <a:r>
              <a:rPr lang="he-IL" sz="5400" b="1" dirty="0">
                <a:solidFill>
                  <a:srgbClr val="FFFFFF"/>
                </a:solidFill>
                <a:latin typeface="Arial"/>
                <a:cs typeface="Arial"/>
              </a:rPr>
              <a:t>ממונוליט למיקרו-סרביסים</a:t>
            </a:r>
          </a:p>
        </p:txBody>
      </p:sp>
      <p:sp>
        <p:nvSpPr>
          <p:cNvPr id="4" name="Sub"/>
          <p:cNvSpPr txBox="1"/>
          <p:nvPr/>
        </p:nvSpPr>
        <p:spPr>
          <a:xfrm>
            <a:off x="760000" y="3400000"/>
            <a:ext cx="10672000" cy="700000"/>
          </a:xfrm>
          <a:prstGeom prst="rect">
            <a:avLst/>
          </a:prstGeom>
        </p:spPr>
        <p:txBody>
          <a:bodyPr rtlCol="1" anchor="ctr"/>
          <a:lstStyle/>
          <a:p>
            <a:pPr algn="ctr" rtl="1"/>
            <a:r>
              <a:rPr lang="he-IL" sz="2400" dirty="0">
                <a:solidFill>
                  <a:srgbClr val="CDD9E6"/>
                </a:solidFill>
                <a:latin typeface="Arial"/>
                <a:cs typeface="Arial"/>
              </a:rPr>
              <a:t>מערכת הזמנות לחנות אונליין  ·  ‎.NET 8‎  ·  Docker  ·  RabbitMQ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760000" y="5500000"/>
            <a:ext cx="10672000" cy="500000"/>
          </a:xfrm>
          <a:prstGeom prst="rect">
            <a:avLst/>
          </a:prstGeom>
        </p:spPr>
        <p:txBody>
          <a:bodyPr rtlCol="1" anchor="ctr"/>
          <a:lstStyle/>
          <a:p>
            <a:pPr algn="ctr" rtl="1"/>
            <a:r>
              <a:rPr lang="he-IL" sz="1600" dirty="0">
                <a:solidFill>
                  <a:srgbClr val="9FB2C6"/>
                </a:solidFill>
                <a:latin typeface="Arial"/>
                <a:cs typeface="Arial"/>
              </a:rPr>
              <a:t>פרויקט גמר  —  מ-Monolith ל-Production-Grade Microservices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מה בניתי — סקירה כללית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מערכת הזמנות מבוזרת שהתפתחה ממונוליט אחד ל-6 שירותים ב-‎.NET 8‎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הכול עולה בפקודה אחת:   docker compose up --build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4 מיקרו-שירותים + Gateway + BFF, עם 3 מסדי נתונים (SQL Server, MongoDB, Redis)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תקשורת אסינכרונית עם RabbitMQ + סאגת כוריאוגרפיה (Saga)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מעקב מקצה-לקצה עם Correlation ID</a:t>
            </a:r>
          </a:p>
          <a:p>
            <a:pPr algn="r" rtl="1">
              <a:spcBef>
                <a:spcPts val="1200"/>
              </a:spcBef>
              <a:buNone/>
            </a:pPr>
            <a:r>
              <a:rPr lang="he-IL" sz="2200" b="1" dirty="0">
                <a:solidFill>
                  <a:srgbClr val="1F3A5F"/>
                </a:solidFill>
                <a:latin typeface="Arial"/>
                <a:cs typeface="Arial"/>
              </a:rPr>
              <a:t>היכולות שהמערכת תומכת בהן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דפדוף מוצרים · ביצוע הזמנה · שריון מלאי · התראה ללקוח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מפת השירותים והפורטים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OrderService — הזמנות + ניהול הסאגה · SQL Server · 5200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ProductCatalogService — קטלוג (‎×2‎ עותקים) · MongoDB · 5201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InventoryService — שריון מלאי · SQL Server · 5202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NotificationService — התראות ללקוח · MongoDB · 5203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GatewayService — שער כניסה יחיד (YARP) · 5204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BffService — איחוד נתונים ללקוח · 5205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תשתית: Redis (cache) · RabbitMQ (message broker)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1 — נקודת הפתיחה: המונוליט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API יחיד ב-‎.NET 8‎: הזמנות + מוצרים + מלאי — הכול ביחד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מסד נתונים רלציוני אחד לכל הלוגיקה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docker-compose שמריץ את הכול בפקודה אחת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המטרה: בסיס להשוואה לפני מול אחרי — בכוונה פשוט, בלי גולד-פלייטינג</a:t>
            </a:r>
          </a:p>
          <a:p>
            <a:pPr algn="r" rtl="1">
              <a:spcBef>
                <a:spcPts val="1200"/>
              </a:spcBef>
              <a:buNone/>
            </a:pPr>
            <a:r>
              <a:rPr lang="he-IL" sz="2200" b="1" dirty="0">
                <a:solidFill>
                  <a:srgbClr val="2E5A88"/>
                </a:solidFill>
                <a:latin typeface="Arial"/>
                <a:cs typeface="Arial"/>
              </a:rPr>
              <a:t>Checkpoint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יוצרים מוצר · מבצעים הזמנה · רואים שהמלאי יורד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2E5A88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1 — 3 הבעיות של המונוליט בקנה מידה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1) צימוד (Coupling) — כל שינוי קטן דורש deploy של כל המערכת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2) סקיילינג לא יעיל — חייבים לשכפל את הכול, גם אם רק הקטלוג עמוס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3) מסד נתונים יחיד — צוואר בקבוק, נקודת כשל יחידה, וכופה טכנולוגיה אחת על כל הדומיינים</a:t>
            </a:r>
          </a:p>
          <a:p>
            <a:pPr algn="r" rtl="1">
              <a:spcBef>
                <a:spcPts val="1200"/>
              </a:spcBef>
              <a:buNone/>
            </a:pPr>
            <a:r>
              <a:rPr lang="he-IL" sz="2200" b="1" dirty="0">
                <a:solidFill>
                  <a:srgbClr val="2E5A88"/>
                </a:solidFill>
                <a:latin typeface="Arial"/>
                <a:cs typeface="Arial"/>
              </a:rPr>
              <a:t>המסקנה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מפצלים את המונוליט לשירותים עצמאיים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E7A5A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2 — פיצול ל-4 מיקרו-שירותים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Order · Catalog · Inventory · Notification — כל אחד עצמאי לחלוטין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Database-per-service: אף שירות לא נוגע במסד הנתונים של שירות אחר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כל שירות אחראי לדומיין ולנתונים שלו בלבד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בשלב הזה התקשורת עדיין סינכרונית ב-HTTP (למשל תמחור הזמנה מול הקטלוג)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E7A5A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2 — מסד נתונים לכל דומיין (Polyglot)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ProductCatalog ← MongoDB (מסמכים): לכל קטגוריה שדות שונים (Attributes גמישים) — בלי סכמה קשיחה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Order ← SQL Server (רלציוני): כסף דורש ACID — אטומי ועקבי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Inventory ← SQL Server: שריון מלאי = race condition על הפריט האחרון → צריך עסקה אטומית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בונוס בחינם: Redis הוא NoSQL מסוג key-value → שתי משפחות NoSQL בפרויקט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E7A5A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2 — ADR: ACID מול BASE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Catalog: מודל מסמכים · BASE / AP · מתאים לשדות גמישים והמון קריאות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Order + Inventory: רלציוני · ACID / CP · נכונות של כסף ומלאי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הכלל: איפה שיש כסף/מלאי — עקביות חזקה. איפה שיש גמישות/קריאות — זמינות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כל בחירה מתועדת ברשומת החלטה (ADR) ב-docs/architecture.md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3 — API Gateway (YARP)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כל תעבורת הלקוח נכנסת דרך שער יחיד (פורט 5204)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השירותים כבר לא חשופים החוצה — נגישים רק ברשת הפנימית של דוקר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YARP מנתב לפי נתיב: ‎/api/products‎ ← קטלוג, ‎/api/orders‎ ← הזמנות …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למה YARP ולא Ocelot? reverse-proxy מודרני, native ל-‎.NET‎, מתוחזק ומוגדר ב-config נקי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3 — BFF (Backend For Frontend)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endpoint אחד פרטי הזמנה שמאחד נתונים משני שירותים: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(1) ההזמנה מ-OrderService   +   (2) פרטי המוצר החיים מ-Catalog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הלקוח מקבל round-trip אחד במקום לקרוא בעצמו לשני שירותים</a:t>
            </a:r>
          </a:p>
          <a:p>
            <a:pPr algn="r" rtl="1">
              <a:spcBef>
                <a:spcPts val="1200"/>
              </a:spcBef>
              <a:buNone/>
            </a:pPr>
            <a:r>
              <a:rPr lang="he-IL" sz="2200" b="1" dirty="0">
                <a:solidFill>
                  <a:srgbClr val="6A4C93"/>
                </a:solidFill>
                <a:latin typeface="Arial"/>
                <a:cs typeface="Arial"/>
              </a:rPr>
              <a:t>הגבול שצריך להגן עליו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Gateway = ניתוב / אבטחה / rate-limiting   ·   BFF = איחוד ועיצוב הנתונים לפי הלקוח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3 — איזון עומסים + הוכחה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ProductCatalogService רץ ב-2 עותקים (catalogservice-1 / -2)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ה-Gateway מאזן ביניהם במדיניות Round-Robin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ההוכחה: כל תשובה מחזירה header בשם  X-Instance-Id  עם שם הקונטיינר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קוראים ל-endpoint שוב ושוב → הערך מתחלף בין העותקים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הריגת עותק אחד לא שוברת את המערכת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C0562B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4 — הודעות אסינכרוניות (RabbitMQ)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במקום לקרוא ל-Inventory ולחכות — שומרים הזמנה כ-Pending, מפרסמים אירוע, וחוזרים מיד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טופולוגיה: fanout exchange אחד (orders.events); לכל שירות תור (queue) משלו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כל שירות מגיב רק לאירועים שמעניינים אותו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היתרון: ניתוק (decoupling) — OrderService לא יודע מי משריין מלאי או מתי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C0562B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4 — Order Saga (כוריאוגרפיה)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OrderService  →  מפרסם OrderPlaced   (הזמנה = Pending)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InventoryService  →  משריין מלאי:  InventoryReserved  או  InventoryRejected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OrderService  →  Confirmed (OrderConfirmed)  או  Cancelled (OrderCancelled = פיצוי)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NotificationService  →  רושם התראה סופית ללקוח</a:t>
            </a:r>
          </a:p>
          <a:p>
            <a:pPr algn="r" rtl="1">
              <a:spcBef>
                <a:spcPts val="1200"/>
              </a:spcBef>
              <a:buNone/>
            </a:pPr>
            <a:r>
              <a:rPr lang="he-IL" sz="2200" b="1" dirty="0">
                <a:solidFill>
                  <a:srgbClr val="C0562B"/>
                </a:solidFill>
                <a:latin typeface="Arial"/>
                <a:cs typeface="Arial"/>
              </a:rPr>
              <a:t>הרעיון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אין מנצח (orchestrator) מרכזי — כל שירות מגיב לאירוע ומפרסם את הבא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C0562B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4 — מסלול הכשל + אידמפוטנטיות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מזמינים מוצר שאזל → InventoryRejected → ההזמנה מבוטלת → הלקוח מקבל דחייה (הפיצוי)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RabbitMQ = at-least-once → הודעה עלולה להגיע פעמיים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Inventory זוכר הזמנות שכבר טופלו → לא משריין פעמיים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Order פועל רק אם הסטטוס עדיין Pending → כפילות = no-op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Notification בודק אם ההתראה כבר קיימת → לא יוצר כפילות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C0562B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4 — קאשינג (Redis, cache-aside)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קריאת מוצר: קודם בודקים ב-Redis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קיים → Cache HIT (בלוג)  ·  לא קיים → Cache MISS, קוראים מ-Mongo ושומרים ל-5 דקות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אסטרטגיית הבטלה: בעדכון / מחיקה / יצירה מוחקים את המפתח מ-Redis → אין מידע ישן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התוצאה: פחות עומס על מסד הנתונים, קריאות מהירות יותר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שלב 5 — ניטור ו-Observability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endpoint ‎/health‎ בכל שירות + healthchecks ב-docker-compose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Correlation ID: מזהה יחיד לכל הזמנה לאורך כל השירותים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הנקודה החשובה: המזהה שורד גם את המעבר דרך ה-broker (בתוך הודעת AMQP), לא רק HTTP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כך אפשר לעקוב אחרי הסיפור המלא של הזמנה אחת בלוגים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8A1F4F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הדגמות (Demo evidence)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מסלול מוצלח:  OrderPlaced → RESERVED → CONFIRMED → NOTIFY [Confirmed]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מסלול כשל / פיצוי:  OrderPlaced → REJECTED → CANCELLED → NOTIFY [Rejected]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קאש:  קריאה ראשונה = MISS  ·  קריאה שנייה = HIT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Correlation ID אחד שמופיע בכל 4 השירותים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txBody>
          <a:bodyPr rtlCol="1" anchor="ctr" lIns="200000" rIns="200000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Arial"/>
                <a:cs typeface="Arial"/>
              </a:rPr>
              <a:t>סיכום — מה הפרויקט מדגים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50000" y="1480000"/>
            <a:ext cx="11100000" cy="5150000"/>
          </a:xfrm>
          <a:prstGeom prst="rect">
            <a:avLst/>
          </a:prstGeom>
        </p:spPr>
        <p:txBody>
          <a:bodyPr rtlCol="1" wrap="square">
            <a:normAutofit/>
          </a:bodyPr>
          <a:lstStyle/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Containers · Microservices · Polyglot persistence · Gateway + BFF · Load balancing</a:t>
            </a:r>
          </a:p>
          <a:p>
            <a:pPr marL="400050" indent="-400050" algn="r" rtl="1">
              <a:spcBef>
                <a:spcPts val="700"/>
              </a:spcBef>
              <a:buFont typeface="Arial"/>
              <a:buChar char="•"/>
            </a:pPr>
            <a:r>
              <a:rPr lang="he-IL" sz="2000" b="0" dirty="0">
                <a:solidFill>
                  <a:srgbClr val="1A1A1A"/>
                </a:solidFill>
                <a:latin typeface="Arial"/>
                <a:cs typeface="Arial"/>
              </a:rPr>
              <a:t>Async messaging · Saga + compensation · Caching · Monitoring &amp; Correlation ID</a:t>
            </a:r>
          </a:p>
          <a:p>
            <a:pPr algn="r" rtl="1">
              <a:spcBef>
                <a:spcPts val="1200"/>
              </a:spcBef>
              <a:buNone/>
            </a:pPr>
            <a:r>
              <a:rPr lang="he-IL" sz="2200" b="1" dirty="0">
                <a:solidFill>
                  <a:srgbClr val="1F3A5F"/>
                </a:solidFill>
                <a:latin typeface="Arial"/>
                <a:cs typeface="Arial"/>
              </a:rPr>
              <a:t>2 ההחלטות שאני מגן/ה עליהן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בחירת מסד: MongoDB לקטלוג (שדות גמישים) · SQL ל-Order (ACID לכסף)</a:t>
            </a:r>
          </a:p>
          <a:p>
            <a:pPr marL="800100" indent="-400050" algn="r" rtl="1">
              <a:spcBef>
                <a:spcPts val="700"/>
              </a:spcBef>
              <a:buFont typeface="Arial"/>
              <a:buChar char="–"/>
            </a:pPr>
            <a:r>
              <a:rPr lang="he-IL" sz="1750" b="0" dirty="0">
                <a:solidFill>
                  <a:srgbClr val="1A1A1A"/>
                </a:solidFill>
                <a:latin typeface="Arial"/>
                <a:cs typeface="Arial"/>
              </a:rPr>
              <a:t>החלפת טכנולוגיה: YARP במקום Ocelot (native ל-‎.NET‎)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A5F"/>
      </a:dk2>
      <a:lt2>
        <a:srgbClr val="EEECE1"/>
      </a:lt2>
      <a:accent1>
        <a:srgbClr val="2E5A88"/>
      </a:accent1>
      <a:accent2>
        <a:srgbClr val="C0562B"/>
      </a:accent2>
      <a:accent3>
        <a:srgbClr val="1E7A5A"/>
      </a:accent3>
      <a:accent4>
        <a:srgbClr val="6A4C93"/>
      </a:accent4>
      <a:accent5>
        <a:srgbClr val="0E7490"/>
      </a:accent5>
      <a:accent6>
        <a:srgbClr val="8A1F4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18</Slides>
  <Company>Final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From Monolith to Microservices</dc:title>
  <dc:creator>Final Project</dc:creator>
  <cp:lastModifiedBy>Final Project</cp:lastModifiedBy>
</cp:coreProperties>
</file>